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22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89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PROJECT  ·  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321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MOVEMENTS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THE RUSSIAN EMPIRE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7614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Decembrist Uprising  ·  December 14, 1825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73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Petersburg, Russia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7863840" cy="1078992"/>
          </a:xfrm>
          <a:prstGeom prst="rect">
            <a:avLst/>
          </a:prstGeom>
          <a:solidFill>
            <a:srgbClr val="0C1624">
              <a:alpha val="85000"/>
            </a:srgbClr>
          </a:solidFill>
          <a:ln w="6350">
            <a:solidFill>
              <a:srgbClr val="C4A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11480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Yunin Daniil   ·   Chekh Vladimir   ·   Turetsky Mark   ·   Keil Daniel   ·   Tutynin Alexey   ·   Airapetyan Mark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35254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 15 minutes of presentation: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1600200" cy="36393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138988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956816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2706624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3127248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 1815–1825, Napoleon's shadow, Enlightenment ideas, succession crisis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93392" y="1298448"/>
            <a:ext cx="1600200" cy="3639312"/>
          </a:xfrm>
          <a:prstGeom prst="rect">
            <a:avLst/>
          </a:prstGeom>
          <a:solidFill>
            <a:srgbClr val="8B1C1C"/>
          </a:solidFill>
          <a:ln/>
        </p:spPr>
      </p:sp>
      <p:sp>
        <p:nvSpPr>
          <p:cNvPr id="10" name="Text 8"/>
          <p:cNvSpPr/>
          <p:nvPr/>
        </p:nvSpPr>
        <p:spPr>
          <a:xfrm>
            <a:off x="1993392" y="138988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84832" y="1956816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66544" y="2706624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84832" y="3127248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Northern &amp; Southern Societies — ideology, membership, and their constitutional programs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0752" y="1298448"/>
            <a:ext cx="1600200" cy="363931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138988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22192" y="1956816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14th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Uprising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03904" y="2706624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22192" y="3127248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Senate Square: timeline of events, Trubetskoy's absence, Miloradovich's death, defeat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68112" y="1298448"/>
            <a:ext cx="1600200" cy="3639312"/>
          </a:xfrm>
          <a:prstGeom prst="rect">
            <a:avLst/>
          </a:prstGeom>
          <a:solidFill>
            <a:srgbClr val="2A6040"/>
          </a:solidFill>
          <a:ln/>
        </p:spPr>
      </p:sp>
      <p:sp>
        <p:nvSpPr>
          <p:cNvPr id="20" name="Text 18"/>
          <p:cNvSpPr/>
          <p:nvPr/>
        </p:nvSpPr>
        <p:spPr>
          <a:xfrm>
            <a:off x="5468112" y="138988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59552" y="1956816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Aftermath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41264" y="2706624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9552" y="3127248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579 arrested · 121 exiled · 5 executed — and the long shadow over Russian history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05472" y="1298448"/>
            <a:ext cx="1600200" cy="3639312"/>
          </a:xfrm>
          <a:prstGeom prst="rect">
            <a:avLst/>
          </a:prstGeom>
          <a:solidFill>
            <a:srgbClr val="5C3A8C"/>
          </a:solidFill>
          <a:ln/>
        </p:spPr>
      </p:sp>
      <p:sp>
        <p:nvSpPr>
          <p:cNvPr id="25" name="Text 23"/>
          <p:cNvSpPr/>
          <p:nvPr/>
        </p:nvSpPr>
        <p:spPr>
          <a:xfrm>
            <a:off x="7205472" y="138988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96912" y="1956816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78624" y="2706624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96912" y="3127248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or first step? Our evaluation of the uprising's historical significance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young Russian officers turn against the Tsar?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274320" cy="274320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98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Napoleonic Wars (1812–1815)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1682496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officers who marched through Europe witnessed constitutional governments, abolition of serfdom, and civil freedoms — in stark contrast to conditions at home. The contrast was radicalising.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24328"/>
            <a:ext cx="274320" cy="274320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328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Enlightenment Reaches Russia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916936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 Voltaire, Rousseau, and Montesquieu circulated among educated nobility. The American Revolution and the French Declaration of Rights inspired calls for a Russian constitution.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274320" cy="274320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673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Succession Crisis, November 1825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4151376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I died on November 19 in Taganrog. His brother Constantine had secretly renounced the throne in 1822. The resulting uncertainty — and forced re-oath — created the conspirators' window.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85232" y="749808"/>
            <a:ext cx="3493008" cy="4133088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813816"/>
            <a:ext cx="3364992" cy="40050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49240" y="4553712"/>
            <a:ext cx="3364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Petersburg, winter 1825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Secret Societies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organisations. One goal. Very different visions.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041648" cy="3657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C4A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NORTHERN SOCIETY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Petersburg  ·  Founded 1821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201168" cy="201168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1284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81328" y="2212848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Kondratiy Ryleev + Nikita Muravyov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98064"/>
            <a:ext cx="201168" cy="201168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249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81328" y="2724912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monarchy — not a republic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201168" cy="201168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3697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81328" y="3236976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Muravyov's draft constitution: federalism, civil rights, bicameral parliament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201168" cy="201168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4904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81328" y="3749040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coup — force the Senate to accept the Manifesto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334256"/>
            <a:ext cx="201168" cy="201168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6110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Serfdom: 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81328" y="4261104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Abolish immediately, grant land to freed serfs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36592" y="1261872"/>
            <a:ext cx="4041648" cy="3657600"/>
          </a:xfrm>
          <a:prstGeom prst="rect">
            <a:avLst/>
          </a:prstGeom>
          <a:solidFill>
            <a:srgbClr val="8B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1371600"/>
            <a:ext cx="4041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SOUTHERN SOCIETY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36592" y="182880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  ·  Founded 1821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64608" y="228600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221284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33872" y="2212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Pavel Pestel — radical reformer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64608" y="279806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138928" y="27249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33872" y="27249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republic — abolish the monarchy entirely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64608" y="331012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323697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33872" y="32369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Pestel's Russkaya Pravda: centralised republic, universal male suffrage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64608" y="3822192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138928" y="374904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33872" y="3749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military uprising from the south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64608" y="433425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138928" y="426110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Serfdom: 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33872" y="42611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Abolish immediately, large land redistribution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80560" y="1371600"/>
            <a:ext cx="0" cy="338328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Figures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 who shaped the uprising — and paid its price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1591056" cy="3749040"/>
          </a:xfrm>
          <a:prstGeom prst="rect">
            <a:avLst/>
          </a:prstGeom>
          <a:solidFill>
            <a:srgbClr val="2A3D5C"/>
          </a:solidFill>
          <a:ln w="15240">
            <a:solidFill>
              <a:srgbClr val="8B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1591056" cy="73152"/>
          </a:xfrm>
          <a:prstGeom prst="rect">
            <a:avLst/>
          </a:prstGeom>
          <a:solidFill>
            <a:srgbClr val="8B1C1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98448"/>
            <a:ext cx="1042416" cy="1042416"/>
          </a:xfrm>
          <a:prstGeom prst="ellipse">
            <a:avLst/>
          </a:prstGeom>
          <a:solidFill>
            <a:srgbClr val="8B1C1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26464"/>
            <a:ext cx="10424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Kondratiy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Ryleev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leader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042416" cy="36576"/>
          </a:xfrm>
          <a:prstGeom prst="rect">
            <a:avLst/>
          </a:prstGeom>
          <a:solidFill>
            <a:srgbClr val="8B1C1C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529584"/>
            <a:ext cx="140817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 and publisher. Organised the St. Petersburg uprising. Executed July 13, 1826.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0" y="1170432"/>
            <a:ext cx="1591056" cy="3749040"/>
          </a:xfrm>
          <a:prstGeom prst="rect">
            <a:avLst/>
          </a:prstGeom>
          <a:solidFill>
            <a:srgbClr val="2A3D5C"/>
          </a:solidFill>
          <a:ln w="15240">
            <a:solidFill>
              <a:srgbClr val="1E4D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170432"/>
            <a:ext cx="1591056" cy="7315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1298448"/>
            <a:ext cx="1042416" cy="1042416"/>
          </a:xfrm>
          <a:prstGeom prst="ellipse">
            <a:avLst/>
          </a:prstGeom>
          <a:solidFill>
            <a:srgbClr val="1E4D8C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1426464"/>
            <a:ext cx="10424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03120" y="242316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Pestel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3090672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leader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0" y="3429000"/>
            <a:ext cx="1042416" cy="36576"/>
          </a:xfrm>
          <a:prstGeom prst="rect">
            <a:avLst/>
          </a:prstGeom>
          <a:solidFill>
            <a:srgbClr val="1E4D8C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103120" y="3529584"/>
            <a:ext cx="140817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Russkaya Pravda — a republican constitution. Arrested Dec 13, the day before. Executed.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49040" y="1170432"/>
            <a:ext cx="1591056" cy="3749040"/>
          </a:xfrm>
          <a:prstGeom prst="rect">
            <a:avLst/>
          </a:prstGeom>
          <a:solidFill>
            <a:srgbClr val="2A3D5C"/>
          </a:solidFill>
          <a:ln w="15240">
            <a:solidFill>
              <a:srgbClr val="2A6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1170432"/>
            <a:ext cx="1591056" cy="73152"/>
          </a:xfrm>
          <a:prstGeom prst="rect">
            <a:avLst/>
          </a:prstGeom>
          <a:solidFill>
            <a:srgbClr val="2A60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023360" y="1298448"/>
            <a:ext cx="1042416" cy="1042416"/>
          </a:xfrm>
          <a:prstGeom prst="ellipse">
            <a:avLst/>
          </a:prstGeom>
          <a:solidFill>
            <a:srgbClr val="2A6040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1426464"/>
            <a:ext cx="10424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40480" y="242316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Sergei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Trubetskoy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090672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Appointed dictator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23360" y="3429000"/>
            <a:ext cx="1042416" cy="36576"/>
          </a:xfrm>
          <a:prstGeom prst="rect">
            <a:avLst/>
          </a:prstGeom>
          <a:solidFill>
            <a:srgbClr val="2A6040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529584"/>
            <a:ext cx="140817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to command Senate Square. Lost his nerve and never appeared — a fatal blow.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0" y="1170432"/>
            <a:ext cx="1591056" cy="3749040"/>
          </a:xfrm>
          <a:prstGeom prst="rect">
            <a:avLst/>
          </a:prstGeom>
          <a:solidFill>
            <a:srgbClr val="2A3D5C"/>
          </a:solidFill>
          <a:ln w="15240">
            <a:solidFill>
              <a:srgbClr val="5C3A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1170432"/>
            <a:ext cx="1591056" cy="73152"/>
          </a:xfrm>
          <a:prstGeom prst="rect">
            <a:avLst/>
          </a:prstGeom>
          <a:solidFill>
            <a:srgbClr val="5C3A8C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1298448"/>
            <a:ext cx="1042416" cy="1042416"/>
          </a:xfrm>
          <a:prstGeom prst="ellipse">
            <a:avLst/>
          </a:prstGeom>
          <a:solidFill>
            <a:srgbClr val="5C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1426464"/>
            <a:ext cx="10424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77840" y="242316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Muravyov-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Apostol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3090672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Society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0" y="3429000"/>
            <a:ext cx="1042416" cy="36576"/>
          </a:xfrm>
          <a:prstGeom prst="rect">
            <a:avLst/>
          </a:prstGeom>
          <a:solidFill>
            <a:srgbClr val="5C3A8C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0" y="3529584"/>
            <a:ext cx="140817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the Chernigov Regiment mutiny in Ukraine. Executed alongside Ryleev.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23760" y="1170432"/>
            <a:ext cx="1591056" cy="3749040"/>
          </a:xfrm>
          <a:prstGeom prst="rect">
            <a:avLst/>
          </a:prstGeom>
          <a:solidFill>
            <a:srgbClr val="2A3D5C"/>
          </a:solidFill>
          <a:ln w="15240">
            <a:solidFill>
              <a:srgbClr val="7A3A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1170432"/>
            <a:ext cx="1591056" cy="73152"/>
          </a:xfrm>
          <a:prstGeom prst="rect">
            <a:avLst/>
          </a:prstGeom>
          <a:solidFill>
            <a:srgbClr val="7A3A1C"/>
          </a:solidFill>
          <a:ln/>
        </p:spPr>
      </p:sp>
      <p:sp>
        <p:nvSpPr>
          <p:cNvPr id="38" name="Shape 36"/>
          <p:cNvSpPr/>
          <p:nvPr/>
        </p:nvSpPr>
        <p:spPr>
          <a:xfrm>
            <a:off x="7498080" y="1298448"/>
            <a:ext cx="1042416" cy="1042416"/>
          </a:xfrm>
          <a:prstGeom prst="ellipse">
            <a:avLst/>
          </a:prstGeom>
          <a:solidFill>
            <a:srgbClr val="7A3A1C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1426464"/>
            <a:ext cx="104241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315200" y="242316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Pyotr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Kakhovsky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0" y="3090672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member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98080" y="3429000"/>
            <a:ext cx="1042416" cy="36576"/>
          </a:xfrm>
          <a:prstGeom prst="rect">
            <a:avLst/>
          </a:prstGeom>
          <a:solidFill>
            <a:srgbClr val="7A3A1C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0" y="3529584"/>
            <a:ext cx="140817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Governor-General Miloradovich during the uprising. One of five executed.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 14, 1825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the uprising lived — and died — on Senate Square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1554480" cy="3621024"/>
          </a:xfrm>
          <a:prstGeom prst="rect">
            <a:avLst/>
          </a:prstGeom>
          <a:solidFill>
            <a:srgbClr val="0C1624">
              <a:alpha val="92000"/>
            </a:srgbClr>
          </a:solidFill>
          <a:ln w="6350">
            <a:solidFill>
              <a:srgbClr val="C4A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081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1773936"/>
            <a:ext cx="365760" cy="365760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3113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Oath to Nicholas 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Rebel officers refuse the oath. The Moscow Regiment marches to Senate Square — ~3,000 men.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1316736"/>
            <a:ext cx="1554480" cy="3621024"/>
          </a:xfrm>
          <a:prstGeom prst="rect">
            <a:avLst/>
          </a:prstGeom>
          <a:solidFill>
            <a:srgbClr val="0C1624">
              <a:alpha val="92000"/>
            </a:srgbClr>
          </a:solidFill>
          <a:ln w="6350">
            <a:solidFill>
              <a:srgbClr val="C4A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14081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52344" y="1773936"/>
            <a:ext cx="365760" cy="365760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13" name="Text 11"/>
          <p:cNvSpPr/>
          <p:nvPr/>
        </p:nvSpPr>
        <p:spPr>
          <a:xfrm>
            <a:off x="2249424" y="223113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Senate Square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9424" y="28346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Soldiers form a hollow square and shout 'Constantine and Constitution!' — many thought 'Constitution' was Constantine's wife.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58768" y="1316736"/>
            <a:ext cx="1554480" cy="3621024"/>
          </a:xfrm>
          <a:prstGeom prst="rect">
            <a:avLst/>
          </a:prstGeom>
          <a:solidFill>
            <a:srgbClr val="0C1624">
              <a:alpha val="92000"/>
            </a:srgbClr>
          </a:solidFill>
          <a:ln w="6350">
            <a:solidFill>
              <a:srgbClr val="C4A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14081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53128" y="1773936"/>
            <a:ext cx="365760" cy="365760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18" name="Text 16"/>
          <p:cNvSpPr/>
          <p:nvPr/>
        </p:nvSpPr>
        <p:spPr>
          <a:xfrm>
            <a:off x="3950208" y="223113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Miloradovich Shot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50208" y="28346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of Borodino, Count Miloradovich, rides unarmed to negotiate. Kakhovsky shoots him at close range.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59552" y="1316736"/>
            <a:ext cx="1554480" cy="3621024"/>
          </a:xfrm>
          <a:prstGeom prst="rect">
            <a:avLst/>
          </a:prstGeom>
          <a:solidFill>
            <a:srgbClr val="0C1624">
              <a:alpha val="92000"/>
            </a:srgbClr>
          </a:solidFill>
          <a:ln w="6350">
            <a:solidFill>
              <a:srgbClr val="C4A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14081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PM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53912" y="1773936"/>
            <a:ext cx="365760" cy="365760"/>
          </a:xfrm>
          <a:prstGeom prst="ellipse">
            <a:avLst/>
          </a:prstGeom>
          <a:solidFill>
            <a:srgbClr val="C4A02E"/>
          </a:solidFill>
          <a:ln/>
        </p:spPr>
      </p:sp>
      <p:sp>
        <p:nvSpPr>
          <p:cNvPr id="23" name="Text 21"/>
          <p:cNvSpPr/>
          <p:nvPr/>
        </p:nvSpPr>
        <p:spPr>
          <a:xfrm>
            <a:off x="5650992" y="223113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Trubetskoy Absent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50992" y="28346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appointed commander never appears — he is found in the General Staff, paralysed with fear. No one takes command.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0336" y="1316736"/>
            <a:ext cx="1554480" cy="3621024"/>
          </a:xfrm>
          <a:prstGeom prst="rect">
            <a:avLst/>
          </a:prstGeom>
          <a:solidFill>
            <a:srgbClr val="5C0A0A">
              <a:alpha val="92000"/>
            </a:srgbClr>
          </a:solidFill>
          <a:ln w="19050">
            <a:solidFill>
              <a:srgbClr val="8B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14081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PM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54696" y="1773936"/>
            <a:ext cx="365760" cy="365760"/>
          </a:xfrm>
          <a:prstGeom prst="ellipse">
            <a:avLst/>
          </a:prstGeom>
          <a:solidFill>
            <a:srgbClr val="8B1C1C"/>
          </a:solidFill>
          <a:ln/>
        </p:spPr>
      </p:sp>
      <p:sp>
        <p:nvSpPr>
          <p:cNvPr id="28" name="Text 26"/>
          <p:cNvSpPr/>
          <p:nvPr/>
        </p:nvSpPr>
        <p:spPr>
          <a:xfrm>
            <a:off x="7351776" y="223113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Cannon Fire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51776" y="28346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Nicholas orders grapeshot. The rebels are dispersed in minutes. The Neva ice cracks. Men drown. It is over.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2110"/>
            <a:ext cx="448056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560" y="2743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AFTERMATH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480560" y="8412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failure — and the beginning of legend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480560" y="12344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4A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579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144768" y="1289304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Arrested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44768" y="1691640"/>
            <a:ext cx="2670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Detained and interrogated for months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80560" y="24048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4A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6144768" y="2459736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Exiled to Siberia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44768" y="2862072"/>
            <a:ext cx="2670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labour, some for 20+ years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80560" y="357530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8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6144768" y="3630168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44768" y="4032504"/>
            <a:ext cx="2670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Ryleev · Pestel · Muravyov-Apostol · Bestuzhev-Ryumin · Kakhovsky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80560" y="4681728"/>
            <a:ext cx="4407408" cy="329184"/>
          </a:xfrm>
          <a:prstGeom prst="rect">
            <a:avLst/>
          </a:prstGeom>
          <a:solidFill>
            <a:srgbClr val="2A3D5C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35424" y="4700016"/>
            <a:ext cx="4315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Wives (Dekabristki) followed husbands to Siberia, surrendering noble titles — icons of Russian culture.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&amp; Historical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846320" cy="9326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64008" cy="932688"/>
          </a:xfrm>
          <a:prstGeom prst="rect">
            <a:avLst/>
          </a:prstGeom>
          <a:solidFill>
            <a:srgbClr val="C4A02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42416"/>
            <a:ext cx="44805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Decembrists woke up Herzen, Herzen developed revolutionary agitation..." </a:t>
            </a:r>
            <a:r>
              <a:rPr lang="en-US" sz="1150" b="1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V.I. Lenin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237744" cy="23774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2996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Inspired Future Revolutionaries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Herzen, the Populists, Social Democrats, and ultimately 1917 — all traced a direct line back to Senate Square.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237744" cy="23774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6148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Great Reform of 1861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II abolished serfdom — the Decembrists' core demand — 36 years later, partly driven by the pressure they created.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237744" cy="23774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93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Shaped Russian Literature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Pushkin, Tolstoy, and Turgenev drew on their legacy. The Dekabristki became icons. Their story lives in Russian culture.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237744" cy="23774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2452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Organised Opposition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1825, resistance was individual. The Decembrists built the template: secret society, written program, collective action.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68112" y="749808"/>
            <a:ext cx="3401568" cy="4133088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41264" y="822960"/>
            <a:ext cx="3255264" cy="39867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541264" y="4526280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Siberia — where 121 Decembrists were sent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uprising a failure — or the first step?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041648" cy="3611880"/>
          </a:xfrm>
          <a:prstGeom prst="rect">
            <a:avLst/>
          </a:prstGeom>
          <a:solidFill>
            <a:srgbClr val="FFF0F0"/>
          </a:solidFill>
          <a:ln w="6350">
            <a:solidFill>
              <a:srgbClr val="DDB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61872"/>
            <a:ext cx="4041648" cy="64008"/>
          </a:xfrm>
          <a:prstGeom prst="rect">
            <a:avLst/>
          </a:prstGeom>
          <a:solidFill>
            <a:srgbClr val="8B1C1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89888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FAILED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37673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Trubetskoy — the commander — never appeared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 was arrested one day before the uprising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and Southern Societies failed to act simultaneously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popular support — the serfs were not mobilised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Nicholas I acted decisively from the first hour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36592" y="1261872"/>
            <a:ext cx="4041648" cy="3611880"/>
          </a:xfrm>
          <a:prstGeom prst="rect">
            <a:avLst/>
          </a:prstGeom>
          <a:solidFill>
            <a:srgbClr val="F0F4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1261872"/>
            <a:ext cx="4041648" cy="640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389888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64608" y="1847088"/>
            <a:ext cx="37673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organised political opposition in Russian history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martyrology that inspired every reform movement after 1825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demands (constitution, end of serfdom) were eventually achieved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the autocracy could — and should — be challenged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Herzen, Lenin, and others all cited them as the beginning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5029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7772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515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3258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6002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8745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21488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24231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" y="26974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86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029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7772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0515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13258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16002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18745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1488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4231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26974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2286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5029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7772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10515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13258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16002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18745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21488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24231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26974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51560" y="2286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51560" y="5029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51560" y="7772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51560" y="10515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51560" y="13258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51560" y="16002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51560" y="18745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51560" y="21488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51560" y="24231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51560" y="26974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325880" y="2286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25880" y="5029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325880" y="7772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325880" y="10515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325880" y="13258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325880" y="16002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325880" y="18745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325880" y="21488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325880" y="24231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325880" y="26974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600200" y="2286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600200" y="5029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600200" y="7772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600200" y="10515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600200" y="13258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600200" y="160020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600200" y="187452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600200" y="214884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600200" y="242316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600200" y="2697480"/>
            <a:ext cx="64008" cy="64008"/>
          </a:xfrm>
          <a:prstGeom prst="ellipse">
            <a:avLst/>
          </a:prstGeom>
          <a:solidFill>
            <a:srgbClr val="C4A02E">
              <a:alpha val="3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96528" y="0"/>
            <a:ext cx="347472" cy="5143500"/>
          </a:xfrm>
          <a:prstGeom prst="rect">
            <a:avLst/>
          </a:prstGeom>
          <a:solidFill>
            <a:srgbClr val="C4A02E"/>
          </a:solidFill>
          <a:ln/>
        </p:spPr>
      </p:sp>
      <p:sp>
        <p:nvSpPr>
          <p:cNvPr id="63" name="Text 61"/>
          <p:cNvSpPr/>
          <p:nvPr/>
        </p:nvSpPr>
        <p:spPr>
          <a:xfrm>
            <a:off x="2103120" y="25603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500" dirty="0">
                <a:solidFill>
                  <a:srgbClr val="C4A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103120" y="685800"/>
            <a:ext cx="64922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Defeat That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Changed Russia</a:t>
            </a:r>
            <a:endParaRPr lang="en-US" sz="4400" dirty="0"/>
          </a:p>
        </p:txBody>
      </p:sp>
      <p:sp>
        <p:nvSpPr>
          <p:cNvPr id="65" name="Shape 63"/>
          <p:cNvSpPr/>
          <p:nvPr/>
        </p:nvSpPr>
        <p:spPr>
          <a:xfrm>
            <a:off x="2103120" y="2057400"/>
            <a:ext cx="3657600" cy="45720"/>
          </a:xfrm>
          <a:prstGeom prst="rect">
            <a:avLst/>
          </a:prstGeom>
          <a:solidFill>
            <a:srgbClr val="C4A02E"/>
          </a:solidFill>
          <a:ln/>
        </p:spPr>
      </p:sp>
      <p:sp>
        <p:nvSpPr>
          <p:cNvPr id="66" name="Text 64"/>
          <p:cNvSpPr/>
          <p:nvPr/>
        </p:nvSpPr>
        <p:spPr>
          <a:xfrm>
            <a:off x="2103120" y="2212848"/>
            <a:ext cx="649224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D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Decembrists failed on December 14, 1825. But they succeeded historically. They planted the idea that autocracy was not inevitable, that serfdom was unjust, and that educated citizens had a duty to act. Every major reform and revolution that followed owed something to their sacrifice. They were — as Herzen wrote — "the awakeners of Russia."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103120" y="3703320"/>
            <a:ext cx="6492240" cy="54864"/>
          </a:xfrm>
          <a:prstGeom prst="rect">
            <a:avLst/>
          </a:prstGeom>
          <a:solidFill>
            <a:srgbClr val="C4A02E">
              <a:alpha val="5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2103120" y="3822192"/>
            <a:ext cx="6492240" cy="1078992"/>
          </a:xfrm>
          <a:prstGeom prst="rect">
            <a:avLst/>
          </a:prstGeom>
          <a:solidFill>
            <a:srgbClr val="2A3D5C">
              <a:alpha val="95000"/>
            </a:srgbClr>
          </a:solidFill>
          <a:ln w="7620">
            <a:solidFill>
              <a:srgbClr val="C4A0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03120" y="3895344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200" dirty="0">
                <a:solidFill>
                  <a:srgbClr val="C4A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&amp; Discussion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2148840" y="429768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Yunin Daniil   ·   Chekh Vladimir   ·   Turetsky Mark   ·   Keil Daniel   ·   Tutynin Alexey   ·   Airapetyan Mark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1058</Words>
  <Application>Microsoft Office PowerPoint</Application>
  <PresentationFormat>Экран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Movements During the Russian Empire</dc:title>
  <dc:subject>PptxGenJS Presentation</dc:subject>
  <dc:creator>PptxGenJS</dc:creator>
  <cp:lastModifiedBy>Danya NiceGuys</cp:lastModifiedBy>
  <cp:revision>3</cp:revision>
  <dcterms:created xsi:type="dcterms:W3CDTF">2026-05-11T21:34:19Z</dcterms:created>
  <dcterms:modified xsi:type="dcterms:W3CDTF">2026-05-11T21:36:27Z</dcterms:modified>
</cp:coreProperties>
</file>